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A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5B2A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Home &amp; Kitchen</c:v>
                  </c:pt>
                  <c:pt idx="1">
                    <c:v>Electronics</c:v>
                  </c:pt>
                  <c:pt idx="2">
                    <c:v>Clothing</c:v>
                  </c:pt>
                  <c:pt idx="3">
                    <c:v>Beauty &amp; Health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217756</c:v>
                </c:pt>
                <c:pt idx="1">
                  <c:v>177548</c:v>
                </c:pt>
                <c:pt idx="2">
                  <c:v>162874</c:v>
                </c:pt>
                <c:pt idx="3">
                  <c:v>143825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5B2A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5B2A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Product_17</c:v>
                  </c:pt>
                  <c:pt idx="1">
                    <c:v>Product_87</c:v>
                  </c:pt>
                  <c:pt idx="2">
                    <c:v>Product_179</c:v>
                  </c:pt>
                  <c:pt idx="3">
                    <c:v>Product_96</c:v>
                  </c:pt>
                  <c:pt idx="4">
                    <c:v>Product_54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86</c:v>
                </c:pt>
                <c:pt idx="3">
                  <c:v>72</c:v>
                </c:pt>
                <c:pt idx="4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5B2A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25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5B2A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Product_142</c:v>
                  </c:pt>
                  <c:pt idx="1">
                    <c:v>Product_33</c:v>
                  </c:pt>
                  <c:pt idx="2">
                    <c:v>Product_174</c:v>
                  </c:pt>
                  <c:pt idx="3">
                    <c:v>Product_91</c:v>
                  </c:pt>
                  <c:pt idx="4">
                    <c:v>Product_60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31</c:v>
                </c:pt>
                <c:pt idx="2">
                  <c:v>33</c:v>
                </c:pt>
                <c:pt idx="3">
                  <c:v>35</c:v>
                </c:pt>
                <c:pt idx="4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5B2A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5B2A4E"/>
            </a:solidFill>
            <a:ln w="44450" cap="flat">
              <a:solidFill>
                <a:srgbClr val="5B2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2A4E"/>
              </a:solidFill>
              <a:ln w="9525" cap="flat">
                <a:solidFill>
                  <a:srgbClr val="5B2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104289</c:v>
                </c:pt>
                <c:pt idx="1">
                  <c:v>96691</c:v>
                </c:pt>
                <c:pt idx="2">
                  <c:v>103271</c:v>
                </c:pt>
                <c:pt idx="3">
                  <c:v>101561</c:v>
                </c:pt>
                <c:pt idx="4">
                  <c:v>102999</c:v>
                </c:pt>
                <c:pt idx="5">
                  <c:v>102210</c:v>
                </c:pt>
                <c:pt idx="6">
                  <c:v>90982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0"/>
          <c:min val="80000"/>
        </c:scaling>
        <c:delete val="0"/>
        <c:axPos val="l"/>
        <c:majorGridlines>
          <c:spPr>
            <a:ln w="6350" cap="flat">
              <a:solidFill>
                <a:srgbClr val="F0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E8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94560"/>
            <a:ext cx="5852160" cy="5852160"/>
          </a:xfrm>
          <a:prstGeom prst="ellipse">
            <a:avLst/>
          </a:prstGeom>
          <a:ln w="177800">
            <a:solidFill>
              <a:srgbClr val="7A3A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005840"/>
            <a:ext cx="3474720" cy="347472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554480" y="4846320"/>
            <a:ext cx="3840480" cy="3840480"/>
          </a:xfrm>
          <a:prstGeom prst="ellipse">
            <a:avLst/>
          </a:prstGeom>
          <a:ln w="25400">
            <a:solidFill>
              <a:srgbClr val="2E8B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914400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13" y="1106973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·  SQL CASE STUDY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Messy Tables</a:t>
            </a:r>
            <a:endParaRPr lang="en-US" sz="4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Retail Strategy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analytics journey across 16 SQL problems — cleaning the data, ranking product performance, decoding customer behavior, and segmenting the base for targeted marketing.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212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22960" y="5815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66160" y="5212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566160" y="5815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309360" y="5212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309360" y="5815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52560" y="5212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$702,004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052560" y="581558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D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faces stagnant growth and declining engagement. Management suspects three root causes — and wants the data to confirm them and point to action.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642616"/>
            <a:ext cx="658368" cy="658368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007" y="2820375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429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 Variability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40873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sell well and which lag? Critical for inventory and marketing focus.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233172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642616"/>
            <a:ext cx="658368" cy="658368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79" y="2820375"/>
            <a:ext cx="302849" cy="3028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9432" y="3429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 Customer Segmentation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599432" y="40873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view of the customer base, so marketing can't be targeted effectively.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01584" y="2331720"/>
            <a:ext cx="3593592" cy="2240280"/>
          </a:xfrm>
          <a:prstGeom prst="roundRect">
            <a:avLst>
              <a:gd name="adj" fmla="val 4082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94192" y="2642616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951" y="2820375"/>
            <a:ext cx="302849" cy="30284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34290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Customer Behavior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75904" y="408736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and loyalty patterns are invisible, hurting retention strategy.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4-PHASE APPROACH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51663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49808" y="5349240"/>
            <a:ext cx="457200" cy="457200"/>
          </a:xfrm>
          <a:prstGeom prst="ellipse">
            <a:avLst/>
          </a:prstGeom>
          <a:solidFill>
            <a:srgbClr val="5B2A4E"/>
          </a:solidFill>
          <a:ln/>
        </p:spPr>
      </p:sp>
      <p:sp>
        <p:nvSpPr>
          <p:cNvPr id="26" name="Text 21"/>
          <p:cNvSpPr/>
          <p:nvPr/>
        </p:nvSpPr>
        <p:spPr>
          <a:xfrm>
            <a:off x="749808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1325880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&amp; prepare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325880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fix prices, nulls, dates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3392424" y="51663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593592" y="5349240"/>
            <a:ext cx="457200" cy="457200"/>
          </a:xfrm>
          <a:prstGeom prst="ellipse">
            <a:avLst/>
          </a:prstGeom>
          <a:solidFill>
            <a:srgbClr val="5B2A4E"/>
          </a:solidFill>
          <a:ln/>
        </p:spPr>
      </p:sp>
      <p:sp>
        <p:nvSpPr>
          <p:cNvPr id="31" name="Text 26"/>
          <p:cNvSpPr/>
          <p:nvPr/>
        </p:nvSpPr>
        <p:spPr>
          <a:xfrm>
            <a:off x="3593592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4169664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4169664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bottom sellers, categories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236208" y="51663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437376" y="5349240"/>
            <a:ext cx="457200" cy="457200"/>
          </a:xfrm>
          <a:prstGeom prst="ellipse">
            <a:avLst/>
          </a:prstGeom>
          <a:solidFill>
            <a:srgbClr val="5B2A4E"/>
          </a:solidFill>
          <a:ln/>
        </p:spPr>
      </p:sp>
      <p:sp>
        <p:nvSpPr>
          <p:cNvPr id="36" name="Text 31"/>
          <p:cNvSpPr/>
          <p:nvPr/>
        </p:nvSpPr>
        <p:spPr>
          <a:xfrm>
            <a:off x="6437376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7013448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behavior</a:t>
            </a:r>
            <a:endParaRPr lang="en-US" sz="1350" dirty="0"/>
          </a:p>
        </p:txBody>
      </p:sp>
      <p:sp>
        <p:nvSpPr>
          <p:cNvPr id="38" name="Text 33"/>
          <p:cNvSpPr/>
          <p:nvPr/>
        </p:nvSpPr>
        <p:spPr>
          <a:xfrm>
            <a:off x="7013448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Frequency, loyalty, repeat buys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9079992" y="516636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9281160" y="5349240"/>
            <a:ext cx="457200" cy="457200"/>
          </a:xfrm>
          <a:prstGeom prst="ellipse">
            <a:avLst/>
          </a:prstGeom>
          <a:solidFill>
            <a:srgbClr val="5B2A4E"/>
          </a:solidFill>
          <a:ln/>
        </p:spPr>
      </p:sp>
      <p:sp>
        <p:nvSpPr>
          <p:cNvPr id="41" name="Text 36"/>
          <p:cNvSpPr/>
          <p:nvPr/>
        </p:nvSpPr>
        <p:spPr>
          <a:xfrm>
            <a:off x="928116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9857232" y="5321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&amp; act</a:t>
            </a:r>
            <a:endParaRPr lang="en-US" sz="1350" dirty="0"/>
          </a:p>
        </p:txBody>
      </p:sp>
      <p:sp>
        <p:nvSpPr>
          <p:cNvPr id="43" name="Text 38"/>
          <p:cNvSpPr/>
          <p:nvPr/>
        </p:nvSpPr>
        <p:spPr>
          <a:xfrm>
            <a:off x="9857232" y="5687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tiers +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PREPARE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— What I Fixed First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insight, the data had to be trustworthy. Four cleaning operations on the raw tables — each shown with the issue found and the fix applied.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615184"/>
            <a:ext cx="658368" cy="658368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95" y="2792943"/>
            <a:ext cx="302849" cy="3028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37360" y="2578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transactions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37360" y="3035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 </a:t>
            </a:r>
            <a:pPr indent="0" marL="0"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duplicate TransactionIDs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737360" y="34015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DISTINCT clean table, dropped &amp; renamed → 5,000 unique rows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28600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74536" y="2615184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295" y="2792943"/>
            <a:ext cx="302849" cy="3028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2578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discrepancies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452360" y="30358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 </a:t>
            </a:r>
            <a:pPr indent="0" marL="0"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rows mismatched vs inventory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452360" y="34015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… JOIN set transaction price to the inventory price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4270248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59536" y="4599432"/>
            <a:ext cx="658368" cy="658368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295" y="4777191"/>
            <a:ext cx="302849" cy="3028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737360" y="45628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 / blank values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1737360" y="50200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 </a:t>
            </a:r>
            <a:pPr indent="0" marL="0"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customer rows had blanks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737360" y="53858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 + NULLIF replaced empties with 'Unknown'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63640" y="4270248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74536" y="4599432"/>
            <a:ext cx="658368" cy="658368"/>
          </a:xfrm>
          <a:prstGeom prst="ellipse">
            <a:avLst/>
          </a:prstGeom>
          <a:solidFill>
            <a:srgbClr val="7A3A6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295" y="4777191"/>
            <a:ext cx="302849" cy="30284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2360" y="456285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Inconsistent dates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452360" y="502005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A3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 </a:t>
            </a:r>
            <a:pPr indent="0" marL="0"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dates, not usable for trends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452360" y="538581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STR_TO_DATE standardised the column to real dates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&amp; Top-Product Revenue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6235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103120"/>
          <a:ext cx="5303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68680" y="4160520"/>
            <a:ext cx="4983480" cy="1874520"/>
          </a:xfrm>
          <a:prstGeom prst="roundRect">
            <a:avLst>
              <a:gd name="adj" fmla="val 487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43708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724" y="449427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4370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97280" y="48463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leads at $217,756, ahead of Electronics ($177,548). All four categories sell within a tight band — no category is dead, but Home &amp; Kitchen is the clear revenue engine.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1463040"/>
            <a:ext cx="5285232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67512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103120"/>
          <a:ext cx="4663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554480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&amp;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$7,817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$7,388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$7,132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&amp; 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$6,916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&amp; Kitchen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$6,622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Product_127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A7E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B2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$6,416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0F5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/>
          <p:nvPr/>
        </p:nvSpPr>
        <p:spPr>
          <a:xfrm>
            <a:off x="6675120" y="5715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Product_17 (Beauty &amp; Health) tops the chart at $9,450 — the single product to protect and promote hardest.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Winners vs. Laggards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the best sellers next to the slowest movers (that still sold at least one unit) shows where to double down and where to act.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42032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690165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5420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SELLERS</a:t>
            </a:r>
            <a:endParaRPr lang="en-US" sz="18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77240" y="32004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6172200" y="2286000"/>
            <a:ext cx="5468112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46520" y="2542032"/>
            <a:ext cx="548640" cy="548640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653" y="269016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25420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5 — UNITS SOLD</a:t>
            </a:r>
            <a:endParaRPr lang="en-US" sz="18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6400800" y="32004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Trend &amp; Month-on-Month Growth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664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 (Jan – Jul 2023)</a:t>
            </a:r>
            <a:endParaRPr lang="en-US" sz="12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057400"/>
          <a:ext cx="6949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001000" y="1463040"/>
            <a:ext cx="3639312" cy="3200400"/>
          </a:xfrm>
          <a:prstGeom prst="roundRect">
            <a:avLst>
              <a:gd name="adj" fmla="val 2857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GROWTH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0" y="20848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418320" y="2084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7.3%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229600" y="2487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418320" y="24871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6.8%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0" y="28895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9418320" y="288950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1.7%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29600" y="3291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418320" y="3291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1.4%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2960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418320" y="36941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0.8%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229600" y="40965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418320" y="40965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11.0%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5B2A4E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68680" y="513892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75" y="5282123"/>
            <a:ext cx="243962" cy="24396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50876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1508760" y="5413248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3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essentially flat across the half-year, then dips 11.0% in July — the steepest fall. This confirms the "stagnant growth" the business reported; demand is steady but not expanding, so growth must come from selling more to existing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Customers Buy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801368"/>
            <a:ext cx="603504" cy="603504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1964314"/>
            <a:ext cx="277612" cy="2776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76479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41248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transactions / customer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" y="288036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989 of 1,000 customers bought; busiest made 14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1508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80136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0666" y="1964314"/>
            <a:ext cx="277612" cy="2776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76672" y="176479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129.7 days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617720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first→last purchase span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617720" y="288036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customers returned over time; longest gap 208 days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101584" y="1508760"/>
            <a:ext cx="3593592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94192" y="1801368"/>
            <a:ext cx="603504" cy="603504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138" y="1964314"/>
            <a:ext cx="277612" cy="2776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53144" y="1764792"/>
            <a:ext cx="2404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394192" y="25146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loyalists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94192" y="288036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&gt;10 times AND spent &gt;$1,000 — the VIPs to retain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88620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4114800"/>
            <a:ext cx="530352" cy="530352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55" y="4257995"/>
            <a:ext cx="243962" cy="2439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 Purchases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22960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customer–product pairs were bought more than once (up to 3× the same item).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2296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buying exists but is thin — a clear opening for reorder reminders and subscriptions.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172200" y="3886200"/>
            <a:ext cx="5468112" cy="2331720"/>
          </a:xfrm>
          <a:prstGeom prst="roundRect">
            <a:avLst>
              <a:gd name="adj" fmla="val 3922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446520" y="4114800"/>
            <a:ext cx="530352" cy="530352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715" y="4257995"/>
            <a:ext cx="243962" cy="24396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8660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Occasional Customers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6446520" y="47091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customers (13.1%) bought just once or twice — at risk of churning.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6446520" y="5394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C25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offers and a strong second-purchase nudge could convert this group into repeat buyers.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Segmentation by Volume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all 1,000 customers by total quantity purchased reveals where the base really sits — and who to target.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08960" y="2286000"/>
            <a:ext cx="4846320" cy="475488"/>
          </a:xfrm>
          <a:prstGeom prst="roundRect">
            <a:avLst>
              <a:gd name="adj" fmla="val 11538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22402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559  ·  55.9%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60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11–30 items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08960" y="3154680"/>
            <a:ext cx="3667251" cy="475488"/>
          </a:xfrm>
          <a:prstGeom prst="roundRect">
            <a:avLst>
              <a:gd name="adj" fmla="val 11538"/>
            </a:avLst>
          </a:prstGeom>
          <a:solidFill>
            <a:srgbClr val="2E8B8B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13371" y="31089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  ·  42.3%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items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Value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08960" y="4023360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03320" y="39776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0.7%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98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 items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Orders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108960" y="4892040"/>
            <a:ext cx="457200" cy="475488"/>
          </a:xfrm>
          <a:prstGeom prst="roundRect">
            <a:avLst>
              <a:gd name="adj" fmla="val 12000"/>
            </a:avLst>
          </a:prstGeom>
          <a:solidFill>
            <a:srgbClr val="8A7E88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703320" y="484632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1.1%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669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items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829800" y="2194560"/>
            <a:ext cx="1810512" cy="3474720"/>
          </a:xfrm>
          <a:prstGeom prst="roundRect">
            <a:avLst>
              <a:gd name="adj" fmla="val 5051"/>
            </a:avLst>
          </a:prstGeom>
          <a:solidFill>
            <a:srgbClr val="5B2A4E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12680" y="242316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0937" y="2561417"/>
            <a:ext cx="235549" cy="23554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01268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12680" y="3291840"/>
            <a:ext cx="1481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3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 entire base is Low/Mid volume. Only 7 customers are High Value, and 11 never ordered.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6868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Mid tier into High Value with volume incentives, and run a focused win-back on the 130 occasional buyers — the biggest, most movable segment.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roundRect">
            <a:avLst>
              <a:gd name="adj" fmla="val 12632"/>
            </a:avLst>
          </a:prstGeom>
          <a:solidFill>
            <a:srgbClr val="5B2A4E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92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E7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00200" y="47548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72768" y="7498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8A7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data-backed moves that target the three business problems directly — product, segmentation and behavior.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68880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6170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4505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the winners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22960" y="309067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Product_17 and the top-10 always in stock; feature them in campaigns.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219456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9432" y="2468880"/>
            <a:ext cx="548640" cy="548640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61701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85232" y="24505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or drop laggards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99432" y="309067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slowest sellers — discount, bundle, or delist to free up stock budget.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219456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75904" y="2468880"/>
            <a:ext cx="548640" cy="548640"/>
          </a:xfrm>
          <a:prstGeom prst="ellipse">
            <a:avLst/>
          </a:prstGeom>
          <a:solidFill>
            <a:srgbClr val="7A3A6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617013"/>
            <a:ext cx="252374" cy="25237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245059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Home &amp; Kitchen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75904" y="309067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top revenue category — widen its range and headline promotions with it.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3" y="4582973"/>
            <a:ext cx="252374" cy="25237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4165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 repeat purchase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822960" y="505663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reminders &amp; subscriptions; repeat buying is thin and easy to grow.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25112" y="41605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9432" y="4434840"/>
            <a:ext cx="548640" cy="548640"/>
          </a:xfrm>
          <a:prstGeom prst="ellipse">
            <a:avLst/>
          </a:prstGeom>
          <a:solidFill>
            <a:srgbClr val="C25B7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565" y="4582973"/>
            <a:ext cx="252374" cy="25237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85232" y="44165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back occasionals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4599432" y="505663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one/two-time buyers (13%) — a second-purchase offer is the biggest lever.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101584" y="4160520"/>
            <a:ext cx="3593592" cy="1783080"/>
          </a:xfrm>
          <a:prstGeom prst="roundRect">
            <a:avLst>
              <a:gd name="adj" fmla="val 5128"/>
            </a:avLst>
          </a:prstGeom>
          <a:solidFill>
            <a:srgbClr val="FBF7F4"/>
          </a:solidFill>
          <a:ln w="12700">
            <a:solidFill>
              <a:srgbClr val="E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75904" y="4434840"/>
            <a:ext cx="548640" cy="54864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582973"/>
            <a:ext cx="252374" cy="25237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061704" y="4416552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B2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Nurture the VIP 7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8375904" y="5056632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but valuable High-Value group — protect with loyalty perks and early access.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206240" cy="4206240"/>
          </a:xfrm>
          <a:prstGeom prst="ellipse">
            <a:avLst/>
          </a:prstGeom>
          <a:ln w="152400">
            <a:solidFill>
              <a:srgbClr val="7A3A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114800"/>
            <a:ext cx="4023360" cy="4023360"/>
          </a:xfrm>
          <a:prstGeom prst="ellipse">
            <a:avLst/>
          </a:prstGeom>
          <a:ln w="254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25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2377440"/>
            <a:ext cx="97840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3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5,000 transactions I cleaned the data, then found that revenue is flat and concentrated in a few products and the Home &amp; Kitchen category, while most customers buy only in low volumes and 13% are one-time shoppers. The growth opportunity isn't more traffic — it's selling more to the customers already here, through repeat-purchase nudges, win-back offers, and protecting the proven winners."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2E8B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556412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5440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Retail Analytics Case 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Analytics Case Study</dc:title>
  <dc:subject>PptxGenJS Presentation</dc:subject>
  <dc:creator>Data Analyst</dc:creator>
  <cp:lastModifiedBy>Data Analyst</cp:lastModifiedBy>
  <cp:revision>1</cp:revision>
  <dcterms:created xsi:type="dcterms:W3CDTF">2026-06-12T04:19:23Z</dcterms:created>
  <dcterms:modified xsi:type="dcterms:W3CDTF">2026-06-12T04:19:23Z</dcterms:modified>
</cp:coreProperties>
</file>